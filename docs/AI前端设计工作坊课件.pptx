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b367d6e7d04d88" /><Relationship Type="http://schemas.openxmlformats.org/officeDocument/2006/relationships/extended-properties" Target="/docProps/app.xml" Id="Reb5709b27fb648da" /><Relationship Type="http://schemas.openxmlformats.org/officeDocument/2006/relationships/officeDocument" Target="/ppt/presentation.xml" Id="R75ad4eec81fc49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e5664088944d48"/>
  </p:sldMasterIdLst>
  <p:notesMasterIdLst>
    <p:notesMasterId xmlns:r="http://schemas.openxmlformats.org/officeDocument/2006/relationships" r:id="R2f5d835094aa4cb5"/>
  </p:notesMasterIdLst>
  <p:sldIdLst>
    <p:sldId xmlns:r="http://schemas.openxmlformats.org/officeDocument/2006/relationships" id="256" r:id="Rc7bd21aef8be4ef7"/>
    <p:sldId xmlns:r="http://schemas.openxmlformats.org/officeDocument/2006/relationships" id="257" r:id="R328c8a33c40a4a59"/>
    <p:sldId xmlns:r="http://schemas.openxmlformats.org/officeDocument/2006/relationships" id="258" r:id="R521fe8a468e440ee"/>
    <p:sldId xmlns:r="http://schemas.openxmlformats.org/officeDocument/2006/relationships" id="259" r:id="Ra86cae3c727542c0"/>
    <p:sldId xmlns:r="http://schemas.openxmlformats.org/officeDocument/2006/relationships" id="260" r:id="Rca329d3a4bf74e96"/>
    <p:sldId xmlns:r="http://schemas.openxmlformats.org/officeDocument/2006/relationships" id="261" r:id="R5b9cbecda5964c04"/>
    <p:sldId xmlns:r="http://schemas.openxmlformats.org/officeDocument/2006/relationships" id="262" r:id="R7820a2209a704e7c"/>
    <p:sldId xmlns:r="http://schemas.openxmlformats.org/officeDocument/2006/relationships" id="263" r:id="Re802f30f0da84b38"/>
    <p:sldId xmlns:r="http://schemas.openxmlformats.org/officeDocument/2006/relationships" id="264" r:id="Rbb7e95403bb8423e"/>
    <p:sldId xmlns:r="http://schemas.openxmlformats.org/officeDocument/2006/relationships" id="265" r:id="R5f9ee6c161774e72"/>
    <p:sldId xmlns:r="http://schemas.openxmlformats.org/officeDocument/2006/relationships" id="266" r:id="R8975f4c47f984e74"/>
    <p:sldId xmlns:r="http://schemas.openxmlformats.org/officeDocument/2006/relationships" id="267" r:id="R14183029181943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e8d21e59ff4952" /><Relationship Type="http://schemas.openxmlformats.org/officeDocument/2006/relationships/slideMaster" Target="/ppt/slideMasters/slideMaster1.xml" Id="R38e5664088944d48" /><Relationship Type="http://schemas.openxmlformats.org/officeDocument/2006/relationships/notesMaster" Target="/ppt/notesMasters/notesMaster1.xml" Id="R2f5d835094aa4cb5" /><Relationship Type="http://schemas.openxmlformats.org/officeDocument/2006/relationships/presProps" Target="/ppt/presProps.xml" Id="R2255d92954c049f1" /><Relationship Type="http://schemas.openxmlformats.org/officeDocument/2006/relationships/tableStyles" Target="/ppt/tableStyles.xml" Id="Ra1cc87ad66724c58" /><Relationship Type="http://schemas.openxmlformats.org/officeDocument/2006/relationships/slide" Target="/ppt/slides/slide1.xml" Id="Rc7bd21aef8be4ef7" /><Relationship Type="http://schemas.openxmlformats.org/officeDocument/2006/relationships/slide" Target="/ppt/slides/slide2.xml" Id="R328c8a33c40a4a59" /><Relationship Type="http://schemas.openxmlformats.org/officeDocument/2006/relationships/slide" Target="/ppt/slides/slide3.xml" Id="R521fe8a468e440ee" /><Relationship Type="http://schemas.openxmlformats.org/officeDocument/2006/relationships/slide" Target="/ppt/slides/slide4.xml" Id="Ra86cae3c727542c0" /><Relationship Type="http://schemas.openxmlformats.org/officeDocument/2006/relationships/slide" Target="/ppt/slides/slide5.xml" Id="Rca329d3a4bf74e96" /><Relationship Type="http://schemas.openxmlformats.org/officeDocument/2006/relationships/slide" Target="/ppt/slides/slide6.xml" Id="R5b9cbecda5964c04" /><Relationship Type="http://schemas.openxmlformats.org/officeDocument/2006/relationships/slide" Target="/ppt/slides/slide7.xml" Id="R7820a2209a704e7c" /><Relationship Type="http://schemas.openxmlformats.org/officeDocument/2006/relationships/slide" Target="/ppt/slides/slide8.xml" Id="Re802f30f0da84b38" /><Relationship Type="http://schemas.openxmlformats.org/officeDocument/2006/relationships/slide" Target="/ppt/slides/slide9.xml" Id="Rbb7e95403bb8423e" /><Relationship Type="http://schemas.openxmlformats.org/officeDocument/2006/relationships/slide" Target="/ppt/slides/slide10.xml" Id="R5f9ee6c161774e72" /><Relationship Type="http://schemas.openxmlformats.org/officeDocument/2006/relationships/slide" Target="/ppt/slides/slide11.xml" Id="R8975f4c47f984e74" /><Relationship Type="http://schemas.openxmlformats.org/officeDocument/2006/relationships/slide" Target="/ppt/slides/slide12.xml" Id="R14183029181943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263941ae854c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d01dc84b144e9b" /><Relationship Type="http://schemas.openxmlformats.org/officeDocument/2006/relationships/notesMaster" Target="/ppt/notesMasters/notesMaster1.xml" Id="R46c9072b42bc40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903af97c214ee5" /><Relationship Type="http://schemas.openxmlformats.org/officeDocument/2006/relationships/notesMaster" Target="/ppt/notesMasters/notesMaster1.xml" Id="R7a485b4a86024e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355bcc0e8e4816" /><Relationship Type="http://schemas.openxmlformats.org/officeDocument/2006/relationships/notesMaster" Target="/ppt/notesMasters/notesMaster1.xml" Id="R7c55bcbe3b8240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f9ad51ec494a0d" /><Relationship Type="http://schemas.openxmlformats.org/officeDocument/2006/relationships/notesMaster" Target="/ppt/notesMasters/notesMaster1.xml" Id="R9b69331f738345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732ca12d824c36" /><Relationship Type="http://schemas.openxmlformats.org/officeDocument/2006/relationships/notesMaster" Target="/ppt/notesMasters/notesMaster1.xml" Id="R5d7af5e8046843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60acc5340e432f" /><Relationship Type="http://schemas.openxmlformats.org/officeDocument/2006/relationships/notesMaster" Target="/ppt/notesMasters/notesMaster1.xml" Id="R4f7a495ed4244a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b0b90752324a40" /><Relationship Type="http://schemas.openxmlformats.org/officeDocument/2006/relationships/notesMaster" Target="/ppt/notesMasters/notesMaster1.xml" Id="R3055a62c83f348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3f558b601d427c" /><Relationship Type="http://schemas.openxmlformats.org/officeDocument/2006/relationships/notesMaster" Target="/ppt/notesMasters/notesMaster1.xml" Id="Rd4a8f024f2e84b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8b6807ba3a46ab" /><Relationship Type="http://schemas.openxmlformats.org/officeDocument/2006/relationships/notesMaster" Target="/ppt/notesMasters/notesMaster1.xml" Id="Rc37cc03a3d4c4b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0c91f03fad4cf3" /><Relationship Type="http://schemas.openxmlformats.org/officeDocument/2006/relationships/notesMaster" Target="/ppt/notesMasters/notesMaster1.xml" Id="R8f6b655690ed42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eb9d2b0f35494c" /><Relationship Type="http://schemas.openxmlformats.org/officeDocument/2006/relationships/notesMaster" Target="/ppt/notesMasters/notesMaster1.xml" Id="R7eac7d3f609446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724dce2d3d4ff3" /><Relationship Type="http://schemas.openxmlformats.org/officeDocument/2006/relationships/notesMaster" Target="/ppt/notesMasters/notesMaster1.xml" Id="R635fc1ed95d84b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 Workshop Slides: https://pair.withgoogle.com/guidebook-v2/workshop/Guidebook-Workshop-Slides.pdf</a:t>
            </a:r>
          </a:p>
          <a:p xmlns:a="http://schemas.openxmlformats.org/drawingml/2006/main">
            <a:r>
              <a:t>CHI 2025 GenAI Design Thinking course: https://sites.google.com/umd.edu/genaidesignthinking</a:t>
            </a:r>
          </a:p>
          <a:p xmlns:a="http://schemas.openxmlformats.org/drawingml/2006/main">
            <a:r>
              <a:t>Visual generated with OpenAI image generation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 Workshop Slides: https://pair.withgoogle.com/guidebook-v2/workshop/Guidebook-Workshop-Slides.pdf</a:t>
            </a:r>
          </a:p>
          <a:p xmlns:a="http://schemas.openxmlformats.org/drawingml/2006/main">
            <a:r>
              <a:t>CHI 2025 GenAI Design Thinking course: https://sites.google.com/umd.edu/genaidesignthinking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 Workshop Slides: https://pair.withgoogle.com/guidebook-v2/workshop/Guidebook-Workshop-Slides.pdf</a:t>
            </a:r>
          </a:p>
          <a:p xmlns:a="http://schemas.openxmlformats.org/drawingml/2006/main">
            <a:r>
              <a:t>Google Codelab: https://codelabs.developers.google.com/codelabs/pair-guidebook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 Workshop Slides: https://pair.withgoogle.com/guidebook-v2/workshop/Guidebook-Workshop-Slides.pdf</a:t>
            </a:r>
          </a:p>
          <a:p xmlns:a="http://schemas.openxmlformats.org/drawingml/2006/main">
            <a:r>
              <a:t>活动提示：小组 5 分钟，选一个关键时刻；记录“后果”和“用户需要”。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 Workshop Slides: https://pair.withgoogle.com/guidebook-v2/workshop/Guidebook-Workshop-Slides.pdf</a:t>
            </a:r>
          </a:p>
          <a:p xmlns:a="http://schemas.openxmlformats.org/drawingml/2006/main">
            <a:r>
              <a:t>活动提示：小组 7 分钟，圈一个关键时刻并写下原因。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 Workshop Slides: https://pair.withgoogle.com/guidebook-v2/workshop/Guidebook-Workshop-Slides.pdf</a:t>
            </a:r>
          </a:p>
          <a:p xmlns:a="http://schemas.openxmlformats.org/drawingml/2006/main">
            <a:r>
              <a:t>活动提示：小组 5 分钟；每组写一句机会陈述。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 Workshop Slides: https://pair.withgoogle.com/guidebook-v2/workshop/Guidebook-Workshop-Slides.pdf</a:t>
            </a:r>
          </a:p>
          <a:p xmlns:a="http://schemas.openxmlformats.org/drawingml/2006/main">
            <a:r>
              <a:t>Microsoft HAX: https://www.microsoft.com/en-us/haxtoolkit/ai-guidelines/</a:t>
            </a:r>
          </a:p>
          <a:p xmlns:a="http://schemas.openxmlformats.org/drawingml/2006/main">
            <a:r>
              <a:t>活动提示：小组 8 分钟，针对所选关键时刻回答 Q1–Q3。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 Workshop Slides: https://pair.withgoogle.com/guidebook-v2/workshop/Guidebook-Workshop-Slides.pdf</a:t>
            </a:r>
          </a:p>
          <a:p xmlns:a="http://schemas.openxmlformats.org/drawingml/2006/main">
            <a:r>
              <a:t>Microsoft HAX: https://www.microsoft.com/en-us/haxtoolkit/ai-guidelines/</a:t>
            </a:r>
          </a:p>
          <a:p xmlns:a="http://schemas.openxmlformats.org/drawingml/2006/main">
            <a:r>
              <a:t>活动提示：小组 8 分钟，画出四种状态。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 Workshop Slides: https://pair.withgoogle.com/guidebook-v2/workshop/Guidebook-Workshop-Slides.pdf</a:t>
            </a:r>
          </a:p>
          <a:p xmlns:a="http://schemas.openxmlformats.org/drawingml/2006/main">
            <a:r>
              <a:t>Microsoft HAX: https://www.microsoft.com/en-us/haxtoolkit/ai-guidelines/</a:t>
            </a:r>
          </a:p>
          <a:p xmlns:a="http://schemas.openxmlformats.org/drawingml/2006/main">
            <a:r>
              <a:t>Visual generated with OpenAI image generation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OpenAI API Quickstart: https://platform.openai.com/docs/quickstart/make-your-first-api-request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 Workshop Slides: https://pair.withgoogle.com/guidebook-v2/workshop/Guidebook-Workshop-Slides.pdf</a:t>
            </a:r>
          </a:p>
          <a:p xmlns:a="http://schemas.openxmlformats.org/drawingml/2006/main">
            <a:r>
              <a:t>活动提示：小组 12 分钟制作 + 每组 2 分钟汇报。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PAIR Workshop Slides: https://pair.withgoogle.com/guidebook-v2/workshop/Guidebook-Workshop-Slides.pdf</a:t>
            </a:r>
          </a:p>
          <a:p xmlns:a="http://schemas.openxmlformats.org/drawingml/2006/main">
            <a:r>
              <a:t>Microsoft HAX: https://www.microsoft.com/en-us/haxtoolkit/ai-guidelines/</a:t>
            </a:r>
          </a:p>
          <a:p xmlns:a="http://schemas.openxmlformats.org/drawingml/2006/main">
            <a:r>
              <a:t>CHI 2025 GenAI Design Thinking course: https://sites.google.com/umd.edu/genaidesignthinking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ea7387df6949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0fbbe9fd504a3a" /><Relationship Type="http://schemas.openxmlformats.org/officeDocument/2006/relationships/slideLayout" Target="/ppt/slideLayouts/slideLayout1.xml" Id="Rfe849de7445546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849de7445546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d9ff9c80541c8" /><Relationship Type="http://schemas.openxmlformats.org/officeDocument/2006/relationships/image" Target="/ppt/media/image.png" Id="R5277054d688440e7" /><Relationship Type="http://schemas.openxmlformats.org/officeDocument/2006/relationships/notesSlide" Target="/ppt/notesSlides/notesSlide1.xml" Id="R3c09c8dae8c447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ba93430c148d2" /><Relationship Type="http://schemas.openxmlformats.org/officeDocument/2006/relationships/notesSlide" Target="/ppt/notesSlides/notesSlide2.xml" Id="R448a0693c3ba40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b791379b44d07" /><Relationship Type="http://schemas.openxmlformats.org/officeDocument/2006/relationships/notesSlide" Target="/ppt/notesSlides/notesSlide3.xml" Id="R20f49f54fe2c4c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5cbf3615d4b8e" /><Relationship Type="http://schemas.openxmlformats.org/officeDocument/2006/relationships/notesSlide" Target="/ppt/notesSlides/notesSlide4.xml" Id="Rb194b00dcb7142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7726f5c2248d9" /><Relationship Type="http://schemas.openxmlformats.org/officeDocument/2006/relationships/notesSlide" Target="/ppt/notesSlides/notesSlide5.xml" Id="Ra1b99ea001aa46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18682d7844043" /><Relationship Type="http://schemas.openxmlformats.org/officeDocument/2006/relationships/notesSlide" Target="/ppt/notesSlides/notesSlide6.xml" Id="R0871a7a154bf4c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cd12b0a154111" /><Relationship Type="http://schemas.openxmlformats.org/officeDocument/2006/relationships/notesSlide" Target="/ppt/notesSlides/notesSlide7.xml" Id="Rd4d41e75d3794c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f836892154f63" /><Relationship Type="http://schemas.openxmlformats.org/officeDocument/2006/relationships/notesSlide" Target="/ppt/notesSlides/notesSlide8.xml" Id="Rf2322336bcbc42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3ebf50af64f30" /><Relationship Type="http://schemas.openxmlformats.org/officeDocument/2006/relationships/image" Target="/ppt/media/image2.png" Id="R123bd190ce8043fe" /><Relationship Type="http://schemas.openxmlformats.org/officeDocument/2006/relationships/notesSlide" Target="/ppt/notesSlides/notesSlide9.xml" Id="R31e01c05455541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64f494cc24d9b" /><Relationship Type="http://schemas.openxmlformats.org/officeDocument/2006/relationships/notesSlide" Target="/ppt/notesSlides/notesSlide10.xml" Id="Re8fb9d81c8d941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4386a4e274b57" /><Relationship Type="http://schemas.openxmlformats.org/officeDocument/2006/relationships/notesSlide" Target="/ppt/notesSlides/notesSlide11.xml" Id="R738bb13daaa24a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896ce550b4086" /><Relationship Type="http://schemas.openxmlformats.org/officeDocument/2006/relationships/notesSlide" Target="/ppt/notesSlides/notesSlide12.xml" Id="Re46a83379ce34c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7054d688440e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636BD-55C5-4177-8207-73FC455D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67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D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89F39-842A-46DE-9C68-C44F9D57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890AC-E65B-4B8E-B26A-521F161A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52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从案例出发的课堂工作坊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3F708-F418-49AF-9AA7-7EAEE4D0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AI 前端设计</a:t>
            </a:r>
          </a:p>
          <a:p xmlns:a="http://schemas.openxmlformats.org/drawingml/2006/main">
            <a:pPr algn="l">
              <a:defRPr sz="4350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工作坊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9348E-518E-4EE1-B161-F021A3F9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6715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把一个“能回答”的 AI 功能，</a:t>
            </a:r>
          </a:p>
          <a:p xmlns:a="http://schemas.openxmlformats.org/drawingml/2006/main">
            <a:pPr algn="l">
              <a:defRPr sz="187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设计成用户敢用、能改、能验证的产品。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77B3D-CF40-4413-AC57-FBFA19A4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67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今天的产出：关键时刻图 · 审计表 · 低保真方案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31D73-6502-4DB7-BE3E-54E695FC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E09F3-8DEE-4107-8A51-22179827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AI 前端设计工作坊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3D656-3572-4555-BC08-F07045CF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10784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63B081-06CD-4B74-8677-C0D90468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rPr>
              <a:t>这不是听完就忘的分享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9B4BC-6D25-4DEE-8E18-94F2677B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这堂课结束时，</a:t>
            </a:r>
          </a:p>
          <a:p xmlns:a="http://schemas.openxmlformats.org/drawingml/2006/main">
            <a:pPr algn="l">
              <a:defRPr sz="367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每组要带走 4 个东西。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995AB-6DDB-47D1-9588-5B6EF180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2343150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EE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513E9-1381-4D41-8411-8E8399DF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F0E36-E0BE-4215-87A3-D7FD4A78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关键时刻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3248B-2850-4DA7-88D9-1EEC2811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AI 最可能帮上忙或帮倒忙的那一刻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3AF99-E4BE-4275-9918-9DDE74F0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19450"/>
            <a:ext cx="2343150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EE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C2096-5C4E-48D8-AECF-56F153B3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671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A7862-1136-41E7-A059-4BCC36C1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147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机会陈述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7A309-E367-44F6-9220-998DB2D4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767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用用户的语气说清“我需要什么”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2CC6C-0A44-4A5F-9605-017C97FC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19450"/>
            <a:ext cx="2343150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EE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22F77-C259-4153-AD2D-A8665B1B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671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61E4E-C4B4-4A9B-815C-E0887D1A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147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控制审计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4D416-8F8D-4752-887B-9ED6589F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767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哪里要确认、拒绝、修改与撤销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72CF3-DE9A-4404-B5AA-C2514B04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19450"/>
            <a:ext cx="2343150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4377F-A890-4BF0-B590-AEE2E885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671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CAD2B2-3EAE-46F8-A529-95C7EC3A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147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一张草图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6A41DD-9F4D-4B8B-A359-843EAF3B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767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把状态和证据放进页面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CB76CC-517C-4F48-8EA0-B85DC670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规则：所有概念都要回到同一个案例；每讲 1 个方法，就产出 1 张可用的设计工件。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A59F77-3406-41EB-B323-38EE1FA3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DF596E-A75F-45C5-85BC-2A52C859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AI 前端设计工作坊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0CB1B2-5276-440B-956C-7BF7B490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02520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C0B11-7FA5-4AD5-8223-38FA0BA9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贯穿案例：销售异常分析助手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BD9DD-3F06-4715-904E-25955B61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762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先别设计页面。</a:t>
            </a:r>
          </a:p>
          <a:p xmlns:a="http://schemas.openxmlformats.org/drawingml/2006/main">
            <a:pPr algn="l">
              <a:defRPr sz="352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先认识你要解决的用户时刻。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A3697-048E-4E8E-A11A-F7707E96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4572000" cy="2457450"/>
          </a:xfrm>
          <a:prstGeom xmlns:a="http://schemas.openxmlformats.org/drawingml/2006/main" prst="roundRect">
            <a:avLst>
              <a:gd name="adj" fmla="val 7752"/>
            </a:avLst>
          </a:prstGeom>
          <a:solidFill xmlns:a="http://schemas.openxmlformats.org/drawingml/2006/main">
            <a:srgbClr val="192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A104A-D25B-47A9-9FB8-B3276FC4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FD637-4AC6-42DF-A16E-F37E945A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3714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门店经理在早晨站会前 3 分钟，</a:t>
            </a:r>
          </a:p>
          <a:p xmlns:a="http://schemas.openxmlformats.org/drawingml/2006/main">
            <a:pPr algn="l">
              <a:def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要决定今天先跟进哪一家门店。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4E4AF-BC33-470E-8982-6A0D8093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数据：昨日销售、库存预警、AI 原因摘要。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7EFCC-FB0A-481D-8A03-E1C4F292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5286375" cy="2457450"/>
          </a:xfrm>
          <a:prstGeom xmlns:a="http://schemas.openxmlformats.org/drawingml/2006/main" prst="roundRect">
            <a:avLst>
              <a:gd name="adj" fmla="val 7752"/>
            </a:avLst>
          </a:prstGeom>
          <a:solidFill xmlns:a="http://schemas.openxmlformats.org/drawingml/2006/main">
            <a:srgbClr val="D9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1058D-5565-4D45-A74A-21EDB3B2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623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AI 会做什么？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12E22-3827-4312-A31C-C50D357A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38550"/>
            <a:ext cx="333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分析异常</a:t>
            </a:r>
          </a:p>
          <a:p xmlns:a="http://schemas.openxmlformats.org/drawingml/2006/main">
            <a:pPr algn="l">
              <a:defRPr sz="23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生成原因摘要</a:t>
            </a:r>
          </a:p>
          <a:p xmlns:a="http://schemas.openxmlformats.org/drawingml/2006/main">
            <a:pPr algn="l">
              <a:defRPr sz="23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生成跟进消息草稿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14AF1-5231-4665-891F-E18CC53B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768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它也可能：无结果、低置信度、数据延迟、建议不当。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2ED88-89F2-404A-B326-910CA700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51AAA-CDA4-4E88-82C9-48EBCCC2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AI 前端设计工作坊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95D01-48C1-46CD-8176-E75C1BB0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867794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61406-391D-48A9-8A1D-5B49C49A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rPr>
              <a:t>热身：先找风险，而不是先找功能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A36D1-F0F2-4506-9614-076E301B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19175"/>
            <a:ext cx="857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如果它做错了，</a:t>
            </a:r>
          </a:p>
          <a:p xmlns:a="http://schemas.openxmlformats.org/drawingml/2006/main">
            <a:pPr algn="l">
              <a:defRPr sz="367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哪一个时刻最可能让用户受伤？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752FB-3D4C-4093-AD1C-4FCF1B47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33528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6221E-571C-4E51-8FF1-FF9DACE4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DA8A2-5CB4-4722-AA03-179E2BC2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看不到异常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787C2-76E6-4B5E-8535-A8E7E1A0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2781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AI 漏掉一家真的有问题的门店。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147F2-2293-4ACF-BDE9-81101EEB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33528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19291-3A22-490B-921E-68F0E9C4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71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B7101-6D8C-4123-83D6-0E928635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71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解释不可信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75E01-4898-4ABA-9652-A61A1857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48150"/>
            <a:ext cx="2781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它说“库存导致下滑”，但没有证据。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E64E4-2A66-4891-B59A-7F456374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33528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92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5721C-9887-482C-91CD-3DBE8A9B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CE16C-D6E0-4F97-96BC-92CDB8E2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719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越权执行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3B672-DAAF-48F1-8E7C-2384C4E1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48150"/>
            <a:ext cx="2781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它把跟进消息直接发给客户。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DEBBC-4277-422F-99A4-17594B22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讨论：请选择一个时刻。它的后果是什么？用户当时最需要什么？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7078E-3D18-4CA0-9141-6E81A374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7FCA3A-FAA5-4C23-AA10-284A05C2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AI 前端设计工作坊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1A36FC-5237-486C-8262-85CE931A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95702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47BEEA-706D-41E0-B6FB-550BA871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工件 1：关键时刻图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E9600-1989-4805-AC63-84A315E9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把 AI 功能拆成 5 个时刻，</a:t>
            </a:r>
          </a:p>
          <a:p xmlns:a="http://schemas.openxmlformats.org/drawingml/2006/main">
            <a:pPr algn="l">
              <a:defRPr sz="352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圈出最需要设计的那一个。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F5F9B-5159-45B9-AB78-F79C46EC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1019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71857-54EA-4279-97B0-1FC96DF3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290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9B15F-991E-4BCC-8965-8D322826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49497-738C-4EC5-93C7-F839E0C1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57675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打开看板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EE637-71BC-4816-9DA2-7EF4C2B3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48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看到门店列表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3EFE5-0867-4AE8-A1F7-7426FCF0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290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88AA7-0130-4CE5-A161-6E657B7A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337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1ED90-F79A-4AC6-AF8C-3168B460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57675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选择异常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AC028-F0CC-43DF-858D-591CE2BC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148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查看 AI 原因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A5C88-D54A-46BB-B6ED-A5922BAC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290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7CCD0-88A5-405C-AF53-1860FABF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337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72174-D138-4A19-883B-FA36CDFE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57675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核验证据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D53D7C-06FD-4F8C-8C0C-75B244C3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7148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判断是否可信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F4330-A249-4156-A19B-C6134DA7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290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CC5257-5D8B-4041-A2F1-E4B1572C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20479-13E7-4907-8367-D463EE08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57675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生成草稿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AA093F-F021-4A8E-9D27-1EDA7DE7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148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编辑跟进消息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5DB061-57DB-41DF-8B2F-EC189AB6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290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8840D7-8DBF-4844-9074-F09CD012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337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6C55C3-918B-41A8-9899-DE8EF33F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57675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确认发送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738D6E-1E4B-4861-8291-1D5EF667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7148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留下审计记录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12F1F7-78B1-42C8-B532-8A93C925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0839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62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29D12E-77F9-40C3-96C0-54DAAE7A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你们要圈：哪个时刻的“错误后果”最高？这个时刻就是接下来所有设计的焦点。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8FC7B8-D3FA-4D90-995B-0B55A378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A6A0A1-604A-454C-99FA-66824C00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AI 前端设计工作坊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41A85C-7E52-4D9C-BC93-15CBC6FB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858381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BAECA-77C7-43DB-8C7A-17F113A0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rPr>
              <a:t>工件 2：机会陈述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F2BBD-22EA-4713-949A-982F0719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19175"/>
            <a:ext cx="904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不说“我要加一个 AI 功能”。</a:t>
            </a:r>
          </a:p>
          <a:p xmlns:a="http://schemas.openxmlformats.org/drawingml/2006/main">
            <a:pPr algn="l">
              <a:defRPr sz="345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要用用户的语气，写出真正的问题。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83FEC-319A-4386-89B8-230FB15F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1083945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080D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663C5-2D69-429D-8AB6-A8719543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971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当  [ 关键时刻 ]  发生时，</a:t>
            </a:r>
          </a:p>
          <a:p xmlns:a="http://schemas.openxmlformats.org/drawingml/2006/main">
            <a:pPr algn="l">
              <a:defRPr sz="232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我需要  [ 用户需要 / 任务 ]  ，以便  [ 想避免的后果 / 目标 ] 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F4DE9-B4B9-4464-9FBF-78822DAE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33528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EE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1225B-D117-4D64-9390-0A2AE055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E8009-B2EF-4521-8232-F5F6F831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差的写法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42091-A0CE-4FCD-BBA7-3FEBBA0E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674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“给看板增加 AI 异常分析。”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B2457-0C21-4A54-B102-F5D89D4D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62500"/>
            <a:ext cx="33528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92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35997-00FD-4970-9489-5FBCF9D0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911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DB0CB-C298-4A31-B7CB-04387A71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911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好的写法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2EF2C-DA0C-4B13-829A-B3154809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8674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“我需要知道原因是否可信，以便决定是否联系门店。”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B3E8F-10AB-4DA2-A095-33510609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B11668-43FC-4EFB-9320-14279902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AI 前端设计工作坊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59E5D-EE8D-4AAB-8C79-BDE06849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895231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F4CF18-5894-4A69-BF3F-C473E6E6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工件 3：控制与风险审计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1B826-A784-4736-873B-EA7E1DC2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AI 能给建议，</a:t>
            </a:r>
          </a:p>
          <a:p xmlns:a="http://schemas.openxmlformats.org/drawingml/2006/main">
            <a:pPr algn="l">
              <a:defRPr sz="3600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但不能偷走用户的决定权。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553C5-D8F4-4A2D-9868-49757899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83E7C-835E-4D30-AE52-D453E099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84D82-0C5A-4623-9C22-AF7C20EC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用户知道它依据什么吗？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56AF2-9C29-4649-8D38-645198A5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487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来源、时间、数据范围是否可查看？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E0D54-0FE9-4413-8C40-8C6756D6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2895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ACD58-77BD-4CCD-A562-D63719F9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F6976-DC33-4805-9261-84D63757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576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用户能拒绝或修改吗？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DD3D7-35A5-4288-9EB1-0251FE9F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1487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结果能编辑吗？能否重新生成？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BE6A5-E52F-42C8-8728-046F6750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7F94C-9AF9-4DD6-B7CE-E8B43C8C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90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Q3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804C0-565A-49EF-BC90-1F8A35C7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576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如果错了，后果多大？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7A9DE-11E1-45A3-9C56-5C22C1BD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1487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低 / 中 / 高风险分别要什么确认？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FFA42-1B63-4361-946B-91CBBA0B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08394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2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5B451-B832-4807-B3EB-48C81C0B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审计结论：涉及“发送、删除、写入、付款”等动作时，默认让用户确认，并提供撤销或替代路径。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D9722-9F74-4DF5-B9C7-DAE8E635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324A88-D3CB-477A-B750-C1EE999C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AI 前端设计工作坊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B51886-EF62-4AC4-923B-79D39848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974927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A9924F-5242-4C20-A202-EEB29601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rPr>
              <a:t>工件 4：把状态画进界面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126D4-43B9-4DF2-9F66-2DCD8906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19175"/>
            <a:ext cx="857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“正常结果”只是 1/4。</a:t>
            </a:r>
          </a:p>
          <a:p xmlns:a="http://schemas.openxmlformats.org/drawingml/2006/main">
            <a:pPr algn="l">
              <a:defRPr sz="35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其余 3 个状态决定用户是否信任它。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6E011-D683-4151-A6E6-FC43AC0C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23431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BAD9D-D904-4263-94E5-341B210E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6FF68-59E5-44B3-A96A-574F900D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输入前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52C9E-0A15-4B69-A248-BCA8B385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示例任务</a:t>
            </a:r>
          </a:p>
          <a:p xmlns:a="http://schemas.openxmlformats.org/drawingml/2006/main">
            <a:pPr algn="l">
              <a:defRPr sz="1425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数据范围 / 限制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EC4D8-AB64-4647-BF2F-020DA466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43250"/>
            <a:ext cx="23431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0E7C2-0DCA-4E4B-A7E5-3AFD5F92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71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A3076-2D93-4D27-B6F1-1FA1BC13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生成中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1C8E2-7AD1-45FB-BDA7-1FD856F5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815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当前阶段</a:t>
            </a:r>
          </a:p>
          <a:p xmlns:a="http://schemas.openxmlformats.org/drawingml/2006/main">
            <a:pPr algn="l">
              <a:defRPr sz="1425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停止 / 取消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912FD-36A1-4A7C-878F-FF924769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23431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1EE5B-0396-4CC6-9137-335B9B7F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71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CB150-1B61-4BC7-9BEB-8DB33C4C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10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结果后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9B79B-7E7B-4533-BF7F-F75FDDB9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815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编辑 / 来源</a:t>
            </a:r>
          </a:p>
          <a:p xmlns:a="http://schemas.openxmlformats.org/drawingml/2006/main">
            <a:pPr algn="l">
              <a:defRPr sz="1425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重新生成 / 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F26214-8A84-498A-89A8-6088C55D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43250"/>
            <a:ext cx="23431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92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5BCE31-AF80-4CA9-9DC6-424168A4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71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79AD7-E4E0-48C7-9DC5-AE0015AC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10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失败时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CF7CF1-AAD9-4146-81FE-D0E9FDCA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保留输入</a:t>
            </a:r>
          </a:p>
          <a:p xmlns:a="http://schemas.openxmlformats.org/drawingml/2006/main">
            <a:pPr algn="l">
              <a:defRPr sz="142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重试 / 改写 / 转人工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AD5B70-4A1F-4255-8957-5B664DE6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检查：页面里有没有“来源 / 编辑 / 停止 / 确认 / 重试”这五类入口？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ABA71C-60FE-48FA-8A29-E70C3ECC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8EE65F-B838-40E8-9F6C-66F13ABB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AI 前端设计工作坊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F93FCA-14D8-4F59-9110-7EB83C95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443711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bd190ce8043f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BE2B0-2423-4930-996F-05CF50ED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D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C5DB2-1E7E-4159-8C52-4901987C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参考：把可信交互做成可见界面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22327-C5A0-45A7-AF77-7E075DE3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4095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用户不需要</a:t>
            </a:r>
          </a:p>
          <a:p xmlns:a="http://schemas.openxmlformats.org/drawingml/2006/main">
            <a:pPr algn="l">
              <a:defRPr sz="33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AI 像人。</a:t>
            </a:r>
          </a:p>
          <a:p xmlns:a="http://schemas.openxmlformats.org/drawingml/2006/main">
            <a:pPr algn="l">
              <a:defRPr sz="33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用户需要它</a:t>
            </a:r>
          </a:p>
          <a:p xmlns:a="http://schemas.openxmlformats.org/drawingml/2006/main">
            <a:pPr algn="l">
              <a:defRPr sz="33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清晰、可控、</a:t>
            </a:r>
          </a:p>
          <a:p xmlns:a="http://schemas.openxmlformats.org/drawingml/2006/main">
            <a:pPr algn="l">
              <a:defRPr sz="33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有证据。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51434-2C22-4929-B483-7EAD1694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把“魔法感”换成：</a:t>
            </a:r>
          </a:p>
          <a:p xmlns:a="http://schemas.openxmlformats.org/drawingml/2006/main">
            <a:pPr algn="l">
              <a:defRPr sz="172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阶段、来源、确认、撤销和反馈。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F707B-D6A0-4A01-8B58-3D4F2DAA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57825"/>
            <a:ext cx="3048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1F764-B033-4957-A552-1A71E6F7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91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看得懂  ·  改得动  ·  有退路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77E54-AD35-43EB-AAD0-C456A597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2248A-3761-4A6C-B4AB-302C03D4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AI 前端设计工作坊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7A7A3-C787-4D3B-A969-6BC339E0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694156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B07C5B-FA07-4250-8F0E-E13B63F4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工程落地：三道护栏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A9680-AD67-4EC3-B5DF-D691134D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模型负责“建议”，</a:t>
            </a:r>
          </a:p>
          <a:p xmlns:a="http://schemas.openxmlformats.org/drawingml/2006/main">
            <a:pPr algn="l">
              <a:defRPr sz="36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系统负责“决定”。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FF993-7DAB-4AC8-832A-5C53C5F2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3009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5ABDB-907F-4567-B6CD-98C63930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476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833B3-2152-4C5B-B96C-CACBFA6D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6148F-96CA-402E-8D27-15F85B6D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309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固定 Schema</a:t>
            </a:r>
          </a:p>
          <a:p xmlns:a="http://schemas.openxmlformats.org/drawingml/2006/main">
            <a:pPr algn="l">
              <a:defRPr sz="1500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用字段渲染卡片与表单</a:t>
            </a:r>
          </a:p>
          <a:p xmlns:a="http://schemas.openxmlformats.org/drawingml/2006/main">
            <a:pPr algn="l">
              <a:defRPr sz="1500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不切割随机文本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146DC-E357-412B-BAE3-D9948015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3009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AC6DB-125F-4AA3-B7F8-A561A9B7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76625"/>
            <a:ext cx="476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936F9-0F5C-4CAF-B923-19F568C4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243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84B95-FFAD-4424-BC5D-44C85F54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24375"/>
            <a:ext cx="309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模型可以提议工具调用</a:t>
            </a:r>
          </a:p>
          <a:p xmlns:a="http://schemas.openxmlformats.org/drawingml/2006/main">
            <a:pPr algn="l">
              <a:defRPr sz="1500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鉴权、写入、审计</a:t>
            </a:r>
          </a:p>
          <a:p xmlns:a="http://schemas.openxmlformats.org/drawingml/2006/main">
            <a:pPr algn="l">
              <a:defRPr sz="1500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由服务端裁决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89611-A713-4E07-A6A5-B8038382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43250"/>
            <a:ext cx="3009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2F9D9-B98A-4AD9-B510-11868CCD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476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D6EAE-4C33-4FB6-9B52-830282AD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243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安全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FE575A-52A0-4173-837C-C4F3FBA6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24375"/>
            <a:ext cx="309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密钥不进浏览器</a:t>
            </a:r>
          </a:p>
          <a:p xmlns:a="http://schemas.openxmlformats.org/drawingml/2006/main">
            <a:pPr algn="l">
              <a:defRPr sz="1500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模型文本、外链、上传、</a:t>
            </a:r>
          </a:p>
          <a:p xmlns:a="http://schemas.openxmlformats.org/drawingml/2006/main">
            <a:pPr algn="l">
              <a:defRPr sz="1500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工具返回均要校验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A006C-6960-4ADB-B16F-472F29E0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68FA68-85F4-4050-8B1D-123518BD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AI 前端设计工作坊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CD099-E66B-4D25-B84D-1C01D9B3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62455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65DFCA-07F4-4A84-81C9-4D9D72B8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E79FF"/>
                </a:solidFill>
                <a:latin typeface="PingFang SC"/>
                <a:ea typeface="PingFang SC"/>
                <a:cs typeface="PingFang SC"/>
              </a:rPr>
              <a:t>设计冲刺：把四张工件收拢成一页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3A6D7-176C-493A-81D5-5F71FB04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19175"/>
            <a:ext cx="800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最后一轮：每组做 1 页，</a:t>
            </a:r>
          </a:p>
          <a:p xmlns:a="http://schemas.openxmlformats.org/drawingml/2006/main">
            <a:pPr algn="l">
              <a:defRPr sz="35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并用 2 分钟讲清楚。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89728-C7CF-429F-9730-C21746A4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2343150" cy="19812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EE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C553B-C39A-4A67-B4DE-D6532877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79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4E79FF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F17B3-9007-4CCB-8510-88F00C2A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关键时刻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DD29C-8703-497F-BE4F-E654EE6B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画出用户流程，圈高风险时刻。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AE1F1-787B-4745-AAEE-33C0B2CB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90875"/>
            <a:ext cx="2343150" cy="19812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EE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F08DF-2AFC-43E4-800B-E6BBAAFC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194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79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4E79FF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82498-88C8-4707-9163-02B3F1D8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052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机会陈述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12D5E-2F24-4B94-A5AD-1818857E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577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用“我需要……以便……”写一句。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36DDD-5F74-49A0-8DE5-2881200A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343150" cy="19812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EE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464F5-6923-47A9-9546-C7E86DFC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194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79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4E79FF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DAF57-F8D6-47FA-A706-96331DF4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052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控制审计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0CEFA-57E4-4AA4-9AF7-A7EDECC9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577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写清楚证据、确认、拒绝与撤销。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54E85-AE0D-4078-ABF7-13990120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90875"/>
            <a:ext cx="2343150" cy="19812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86947-B4C8-4DD0-BCDB-5B795F03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194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79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4E79FF"/>
                </a:solidFill>
                <a:latin typeface="PingFang SC"/>
                <a:ea typeface="PingFang SC"/>
                <a:cs typeface="PingFang SC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E9BE9-A68B-4EFA-9332-A3C2F160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052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0D19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80D19"/>
                </a:solidFill>
                <a:latin typeface="PingFang SC"/>
                <a:ea typeface="PingFang SC"/>
                <a:cs typeface="PingFang SC"/>
              </a:rPr>
              <a:t>低保真草图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F78FB2-EC26-431C-8D29-BE65D283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画出正常、生成中、失败、确认。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BE6EB7-5DE0-4FBC-A536-E6ABD78E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08394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80D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5B8871-EE73-4560-80BF-30E52B9C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62625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汇报规则：不用介绍“功能很多”；只回答——用户在哪一刻最需要帮助、为什么这个设计值得信任。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E37BE-934E-40A3-A4B3-B2CD5959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9B2D5-722C-460A-A009-43E11DB8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AI 前端设计工作坊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FD1633-FDA3-4DC8-B361-F7334FB8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38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38D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590295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0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A06AF-E3BA-4942-83CB-45B3D29C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1BAD0-B37E-492F-A7FB-A3802E3C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复盘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345FD-DAD5-47F5-AFBF-CC013FE1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5143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上完这堂课，</a:t>
            </a:r>
          </a:p>
          <a:p xmlns:a="http://schemas.openxmlformats.org/drawingml/2006/main">
            <a:pPr algn="l">
              <a:defRPr sz="382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以后都用这三问</a:t>
            </a:r>
          </a:p>
          <a:p xmlns:a="http://schemas.openxmlformats.org/drawingml/2006/main">
            <a:pPr algn="l">
              <a:defRPr sz="382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检查 AI 前端。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3C156-8F7D-45A6-810B-38D76F7E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716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3A93E-CE28-462B-B15B-81F12C7E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85900"/>
            <a:ext cx="3667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用户知道</a:t>
            </a:r>
          </a:p>
          <a:p xmlns:a="http://schemas.openxmlformats.org/drawingml/2006/main">
            <a:pPr algn="l">
              <a:def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下一步做什么吗？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4095E-FB36-4BE1-AC50-A5683755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2F888-A22B-4566-A6D4-4C0F6080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88641-2000-465A-80D5-D03BBBBD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76575"/>
            <a:ext cx="3667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AI 的结论能被</a:t>
            </a:r>
          </a:p>
          <a:p xmlns:a="http://schemas.openxmlformats.org/drawingml/2006/main">
            <a:pPr algn="l">
              <a:def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核验和纠正吗？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19206-A2AC-4F82-8208-41BC7A0B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67175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A9254-D444-4771-988A-5E3A29D5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529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FF4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9FF4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76D75-81BC-4360-A735-6AF590EB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67250"/>
            <a:ext cx="3667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慢了、错了、越权时，</a:t>
            </a:r>
          </a:p>
          <a:p xmlns:a="http://schemas.openxmlformats.org/drawingml/2006/main">
            <a:pPr algn="l">
              <a:def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7F9FF"/>
                </a:solidFill>
                <a:latin typeface="PingFang SC"/>
                <a:ea typeface="PingFang SC"/>
                <a:cs typeface="PingFang SC"/>
              </a:rPr>
              <a:t>用户有出路吗？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93BC1-AF7A-453F-9B4D-8FF873FA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它们不保证 AI 永远正确，但能保证用户始终有理解、控制和恢复的路径。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4A987-17F2-4496-82B1-99DF9D53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D309B-33DF-4E6F-A678-DC3C529E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AI 前端设计工作坊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71F675-0EA4-4CBF-B7D2-0B53482A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341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AAB8D4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52664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2026-08-05T10:06:07.6230000Z</dcterms:created>
  <dcterms:modified xsi:type="dcterms:W3CDTF">2026-08-05T10:06:07.6230000Z</dcterms:modified>
</coreProperties>
</file>